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acquire-gov is a running federal-acquisitions platform covering the pre-award and source-selection lifecycle: drafting solicitations, answering vendor questions against the regulations (FAR/DFARS), and running evaluation panels. Phase 1 is ADOPTION, not modernization - we add AI on top of the stack as it stands and deliberately defer fixing inherited legacy debt to Phase 2. Sponsor brief: compress weeks of hand-drafting into days, ground answers in the actual regulations, help evaluation move faster - with every irreversible or statutorily-reserved decision routed through a human and every AI output traceable to a real source and an accountable 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acquire-gov is the federal-acquisitions platform. The domain is genuinely relational - a CO asks 'every contract this vendor won with red CPARs' - so the model is a ~17-entity graph whose spine is Vendor-Proposal-Evaluation-Award-ContractModification-Cpar. Phase 1 layers AI on in three sequenced capabilities (M1 drafting, M2 grounded retrieval, M3 agentic source selection); today is anchored on the M1 generate-and-review build. Volumes are modest (~100 vendors / ~500 proposals / ~80 active contracts per agency).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thread Phase 1 pulls. TODAY: the live AI path emits raw, ungrounded output with no validation - it will cite a FAR clause that doesn't apply or doesn't exist; exactly what an OIG auditor cannot defend. THE GOAL maps to the five PRD goals: compress drafting (G1), ground every answer (G2), safe source selection (G3), auditable by default (G4), measurably correct via eval gates (G5). The six principles are non-negotiable: Authority over accuracy (gates exist for accountability, not model quality; confidence never downgrades a hard gate); Right-sized HITL (gate by reversibility x blast-radius); Grounded or withheld; Auditable by default; Synthetic + FedRAMP-safe (Bedrock sole LLM path, synthetic data only); Eval as the gate (quality proven in 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Logo-forward stack tour. Angular 17 SPA for the CO workspace. Spring Cloud Gateway fronts everything with an OAuth2 resource server (JWT / OpenID Connect). Two Spring Boot 2.7 services (solicitation, evaluation, Java 11) plus the new Python 3.11 / FastAPI ai-orchestrator on LangChain v1 + LangGraph. AWS Bedrock is the SOLE LLM path (FedRAMP, no direct third-party API): Claude Sonnet 4.5 drafts authoritative sections, Claude Haiku 4.5 does cheap boilerplate, Amazon Titan Text Embeddings v2 (512-dim) for vectors, Amazon Nova (Lite for extraction/critic, Micro for topic judge), Amazon Rerank 1.0 for relevance. Data: PostgreSQL and MongoDB / atlas-local (vector chunks, audit_log, checkpoints). Docker composes the stack. Managed Bedrock products are hand-built in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walkthrough (DEMO-SCRIPT.md). Enter via the dashboard '+ New solicitation'. Fill Step 1 with the Cloud Managed Services BPA scenario, then click 'Draft AI Parts' ONCE. Narrate while it runs: C (SOW) drafted first as the root; H/L/M against C; D-G + K by the cheap Haiku tier from FAR templates; Section I clauses resolve programmatically from the set-aside; consistency critic runs last. Walk the stepper - Section K reacting to SDVOSB (52.219-27 + 52.219-14), Section M's best-value structure, programmatic Section I. Step 12 editable review: edit Section C live and watch the provenance badge flip to 'ai-edited'. Step 13 is the FAR 5.705 / CO-approval hard gate - authority over accuracy. Whole path runs in stub mode so it works before the Bedrock key lands; demo inputs are deliberately distinct from the canned stub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five-service request path (diagram 1/2). Browser -&gt; Angular SPA :4200 -&gt; Spring Cloud Gateway :8080 (OAuth2 resource server + CORS). Gateway routes by path: /api/solicitations/** -&gt; solicitation-service :8081, /api/evaluations/** -&gt; evaluation-service :8082, /api/ai/** -&gt; ai-orchestrator :8000 (StripPrefix 2 removes the prefix because the orchestrator serves at root). solicitation-service owns PostgreSQL + MongoDB; the orchestrator talks to MongoDB (chunks, audit_log, checkpoints) and AWS Bedrock. Flag two things: evaluation-service calls solicitation-service DIRECTLY with no circuit breaker - deliberate inherited debt, Phase 2; and AWS Bedrock is the only LLM path. The whole AI capability is one added service plus two added stores on top of an otherwise-untouched brownfield baseline - that's adoption, not modernization.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Technical-depth slide. LEFT - the M2 RAG pipeline, the headline grounding engine: admission (tenant header + guardrails) -&gt; hybrid retrieval (Titan v2 @512 vectors + BM25, RRF fusion, tenant pre-filter, top-K 20) -&gt; Amazon Rerank 1.0 to top-N 5 -&gt; confidence gate -&gt; grounded answer with citations, all written to an append-only audit_log. No layer is skippable; cross-tenant retrieval is structurally impossible (proven by test). The gate has three bands on one shared threshold contract: M2 rerank 0.30/0.50, M1 agent gate 0.40/0.55. MIDDLE - the M1 batch coordinator: a custom LangGraph StateGraph fans out five parallel siblings off plan (Part I C+H and Part IV L+M on Sonnet, Haiku boilerplate D-G/K in one call, programmatic Section I and Section J passthrough), then aggregate -&gt; consistency critic -&gt; END. Below it, the HITL durable checkpoint: low-confidence drafts interrupt and persist to a MongoDB checkpointer with no TTL, surviving multi-day delays and restarts. RIGHT - model tiering by cost and the cost-runaway guard: explicit recursion_limit per invoke, per-model max_tokens, low max_retries, and a CI test proving a runaway agent dies at the cap - the guard that would have caught the 2026-06-12 2.8M-token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Forward-looking - none of this is done. M2 grounded retrieval and M3 agentic source-selection are the next two capabilities in the Phase 1 sequence (M3 adds hard gates on FAR 15.308 SSA, 5.705 award, 15.206 amendment, plus pause/resume durability). C-first sequencing is a decided-but-deferred live-path refinement - invisible in the stub demo, and deferring it the night before the demo was right because the warn-only consistency critic already mitigates C-L/M misalignment; pick it up first with the HITL tests in front of you. Phase 2 (modernization) - Spring Boot 4 / Java 21, AI-security hardening, AIOps/observability - is explicitly OUT of scope for Phase 1. Eval-gate ratcheting keeps quality honest in CI. The relational/graph representation for fast CO traversal is still an open planning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Recap the spine: today's AI path is undefensible (raw, ungrounded output); Phase 1 makes it structured, grounded, gated, and auditable, layered on top of the existing stack without modernizing it. Three principles to leave them with: authority over accuracy, grounded or withheld, eval as the gate. Open for questions - exact thresholds, model IDs, and token caps are in the architecture diagram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8.png"/><Relationship Id="rId10" Type="http://schemas.openxmlformats.org/officeDocument/2006/relationships/image" Target="../media/image-4-10.png"/><Relationship Id="rId11" Type="http://schemas.openxmlformats.org/officeDocument/2006/relationships/image" Target="../media/image-4-10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554480"/>
            <a:ext cx="54864" cy="31089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BD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FEDERAL ACQUISITIONS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acquire-gov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33272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1 - 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34290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gated, and auditable AI layered onto the existing solicitation -&gt; evaluation -&gt; award workflow - without an OIG auditor ever being able to say the system made a decision a human was supposed to make.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5074920"/>
            <a:ext cx="1286561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074920"/>
            <a:ext cx="1286561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2713" y="5074920"/>
            <a:ext cx="2084832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2713" y="5074920"/>
            <a:ext cx="20848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2137" y="5074920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2137" y="5074920"/>
            <a:ext cx="1730045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46774" y="5074920"/>
            <a:ext cx="2173529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6774" y="5074920"/>
            <a:ext cx="2173529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84894" y="5074920"/>
            <a:ext cx="1286561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4894" y="5074920"/>
            <a:ext cx="1286561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acquire-gov is, and what Phase 1 adds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82296" cy="2286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four-service system for federal pre-award &amp; source selection - an Angular CO workspace over Spring Boot services and a Python AI orchestrator. It runs today.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600200"/>
            <a:ext cx="82296" cy="2286000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01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domain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81728" y="2313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acquisitions: drafting FAR/DFARS-compliant solicitations, answering vendor questions against the actual regulations, running evaluation -&gt; consensus -&gt; SSA -&gt; award.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11896" y="160020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11896" y="1600200"/>
            <a:ext cx="82296" cy="228600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5" name="Text 13"/>
          <p:cNvSpPr/>
          <p:nvPr/>
        </p:nvSpPr>
        <p:spPr>
          <a:xfrm>
            <a:off x="8586216" y="1801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phase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86216" y="2313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= AI adoption layered on the stack as it stands. We surface inherited debt and defer its modernization to Phase 2 - adopt, don't pre-modernize.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spine (~17-entity graph):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17720"/>
            <a:ext cx="850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17720"/>
            <a:ext cx="8503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846320"/>
            <a:ext cx="256032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45920" y="4617720"/>
            <a:ext cx="104241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4617720"/>
            <a:ext cx="10424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06624" y="4846320"/>
            <a:ext cx="256032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80944" y="46177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80944" y="461772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33672" y="4846320"/>
            <a:ext cx="256032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07992" y="4617720"/>
            <a:ext cx="7543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4617720"/>
            <a:ext cx="7543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80660" y="4846320"/>
            <a:ext cx="256032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54980" y="46177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498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ContractModification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67828" y="4846320"/>
            <a:ext cx="256032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42148" y="4617720"/>
            <a:ext cx="65836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2148" y="4617720"/>
            <a:ext cx="6583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capabilities, delivered in sequence:  M1 LLM-assisted drafting -&gt; M2 grounded retrieval -&gt; M3 agentic source-selection.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AIMED GOAL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 OIG auditor can actually defend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349240" cy="2514600"/>
          </a:xfrm>
          <a:prstGeom prst="roundRect">
            <a:avLst>
              <a:gd name="adj" fmla="val 1818"/>
            </a:avLst>
          </a:prstGeom>
          <a:solidFill>
            <a:srgbClr val="FBEDED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82296" cy="2514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 -  the defensibility gap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212848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path returns raw, ungrounded model output with no validation.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confidently emit a solicitation citing a FAR clause that doesn't apply - or doesn't exist.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citation, no human gate, no audit record - nothing an auditor can reconstruct.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OIG-defensibility problem the sponsor named.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2514600"/>
          </a:xfrm>
          <a:prstGeom prst="roundRect">
            <a:avLst>
              <a:gd name="adj" fmla="val 1818"/>
            </a:avLst>
          </a:prstGeom>
          <a:solidFill>
            <a:srgbClr val="EAF3EC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554480"/>
            <a:ext cx="82296" cy="251460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373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  -  structured | grounded | gated | auditable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2212848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produces a reviewable, structured draft on demand - in minutes, not weeks.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authoritative answer traces to a real FAR/DFARS clause; weak grounding is withheld, never guessed.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reserved / irreversible step stops for the responsible human.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AI-assisted decision writes an append-only, OIG-replayable record.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3159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CROSS-CUTTING PRINCIPLES  (non-negotiable)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4828032"/>
            <a:ext cx="146304" cy="146304"/>
          </a:xfrm>
          <a:prstGeom prst="ellipse">
            <a:avLst/>
          </a:prstGeom>
          <a:solidFill>
            <a:srgbClr val="B0880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66344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over accuracy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95728" y="4663440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4828032"/>
            <a:ext cx="146304" cy="146304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2779776" y="466344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HITL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88536" y="4663440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4828032"/>
            <a:ext cx="146304" cy="146304"/>
          </a:xfrm>
          <a:prstGeom prst="ellipse">
            <a:avLst/>
          </a:prstGeom>
          <a:solidFill>
            <a:srgbClr val="238636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4663440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or withheld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230368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394960"/>
            <a:ext cx="146304" cy="146304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5230368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default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5728" y="5230368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42032" y="5394960"/>
            <a:ext cx="146304" cy="146304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28" name="Text 26"/>
          <p:cNvSpPr/>
          <p:nvPr/>
        </p:nvSpPr>
        <p:spPr>
          <a:xfrm>
            <a:off x="2779776" y="5230368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+ FedRAMP-safe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88536" y="5230368"/>
            <a:ext cx="180136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5394960"/>
            <a:ext cx="146304" cy="146304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672584" y="5230368"/>
            <a:ext cx="1344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as the gate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 we're building 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7" name="Image 0" descr="/sessions/gifted-elegant-davinci/mnt/outputs/deck/assets/ang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2072" y="1536192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1396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&amp; security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31720" y="22860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11" name="Image 1" descr="/sessions/gifted-elegant-davinci/mnt/outputs/deck/assets/springb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2450592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30540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69080" y="22860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14" name="Image 2" descr="/sessions/gifted-elegant-davinci/mnt/outputs/deck/assets/jw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450592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0" y="30540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806440" y="22860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17" name="Image 3" descr="/sessions/gifted-elegant-davinci/mnt/outputs/deck/assets/open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50592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2160" y="30540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57200" y="32004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&amp; orchestrator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331720" y="32004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21" name="Image 4" descr="/sessions/gifted-elegant-davinci/mnt/outputs/deck/assets/springbo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3364992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77440" y="39684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069080" y="32004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24" name="Image 5" descr="/sessions/gifted-elegant-davinci/mnt/outputs/deck/assets/pyth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364992"/>
            <a:ext cx="566928" cy="5669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114800" y="39684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806440" y="32004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27" name="Image 6" descr="/sessions/gifted-elegant-davinci/mnt/outputs/deck/assets/fastap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3364992"/>
            <a:ext cx="566928" cy="56692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852160" y="39684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7543800" y="32004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30" name="Image 7" descr="/sessions/gifted-elegant-davinci/mnt/outputs/deck/assets/langch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3364992"/>
            <a:ext cx="566928" cy="56692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589520" y="39684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9281160" y="32004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33" name="Image 8" descr="/sessions/gifted-elegant-davinci/mnt/outputs/deck/assets/langch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1512" y="3364992"/>
            <a:ext cx="566928" cy="56692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326880" y="39684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457200" y="4114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| AWS Bedrock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2331720" y="41148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37" name="Image 9" descr="/sessions/gifted-elegant-davinci/mnt/outputs/deck/assets/clau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4279392"/>
            <a:ext cx="566928" cy="56692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2377440" y="48828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950" dirty="0"/>
          </a:p>
        </p:txBody>
      </p:sp>
      <p:sp>
        <p:nvSpPr>
          <p:cNvPr id="39" name="Shape 27"/>
          <p:cNvSpPr/>
          <p:nvPr/>
        </p:nvSpPr>
        <p:spPr>
          <a:xfrm>
            <a:off x="4069080" y="41148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40" name="Image 10" descr="/sessions/gifted-elegant-davinci/mnt/outputs/deck/assets/claud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9432" y="4279392"/>
            <a:ext cx="566928" cy="56692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114800" y="48828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950" dirty="0"/>
          </a:p>
        </p:txBody>
      </p:sp>
      <p:sp>
        <p:nvSpPr>
          <p:cNvPr id="42" name="Shape 29"/>
          <p:cNvSpPr/>
          <p:nvPr/>
        </p:nvSpPr>
        <p:spPr>
          <a:xfrm>
            <a:off x="5806440" y="41148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6199632" y="4334256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0243E"/>
          </a:solidFill>
          <a:ln/>
        </p:spPr>
      </p:sp>
      <p:sp>
        <p:nvSpPr>
          <p:cNvPr id="44" name="Text 31"/>
          <p:cNvSpPr/>
          <p:nvPr/>
        </p:nvSpPr>
        <p:spPr>
          <a:xfrm>
            <a:off x="6199632" y="4334256"/>
            <a:ext cx="8412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endParaRPr lang="en-US" sz="1600" dirty="0"/>
          </a:p>
        </p:txBody>
      </p:sp>
      <p:sp>
        <p:nvSpPr>
          <p:cNvPr id="45" name="Text 32"/>
          <p:cNvSpPr/>
          <p:nvPr/>
        </p:nvSpPr>
        <p:spPr>
          <a:xfrm>
            <a:off x="5852160" y="48828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Embeddings v2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7543800" y="41148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7936992" y="4334256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0243E"/>
          </a:solidFill>
          <a:ln/>
        </p:spPr>
      </p:sp>
      <p:sp>
        <p:nvSpPr>
          <p:cNvPr id="48" name="Text 35"/>
          <p:cNvSpPr/>
          <p:nvPr/>
        </p:nvSpPr>
        <p:spPr>
          <a:xfrm>
            <a:off x="7936992" y="4334256"/>
            <a:ext cx="8412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endParaRPr lang="en-US" sz="1600" dirty="0"/>
          </a:p>
        </p:txBody>
      </p:sp>
      <p:sp>
        <p:nvSpPr>
          <p:cNvPr id="49" name="Text 36"/>
          <p:cNvSpPr/>
          <p:nvPr/>
        </p:nvSpPr>
        <p:spPr>
          <a:xfrm>
            <a:off x="7589520" y="48828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</a:t>
            </a:r>
            <a:endParaRPr lang="en-US" sz="950" dirty="0"/>
          </a:p>
        </p:txBody>
      </p:sp>
      <p:sp>
        <p:nvSpPr>
          <p:cNvPr id="50" name="Shape 37"/>
          <p:cNvSpPr/>
          <p:nvPr/>
        </p:nvSpPr>
        <p:spPr>
          <a:xfrm>
            <a:off x="9281160" y="41148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9674352" y="4334256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0243E"/>
          </a:solidFill>
          <a:ln/>
        </p:spPr>
      </p:sp>
      <p:sp>
        <p:nvSpPr>
          <p:cNvPr id="52" name="Text 39"/>
          <p:cNvSpPr/>
          <p:nvPr/>
        </p:nvSpPr>
        <p:spPr>
          <a:xfrm>
            <a:off x="9674352" y="4334256"/>
            <a:ext cx="8412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endParaRPr lang="en-US" sz="1600" dirty="0"/>
          </a:p>
        </p:txBody>
      </p:sp>
      <p:sp>
        <p:nvSpPr>
          <p:cNvPr id="53" name="Text 40"/>
          <p:cNvSpPr/>
          <p:nvPr/>
        </p:nvSpPr>
        <p:spPr>
          <a:xfrm>
            <a:off x="9326880" y="48828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Rerank 1.0</a:t>
            </a:r>
            <a:endParaRPr lang="en-US" sz="950" dirty="0"/>
          </a:p>
        </p:txBody>
      </p:sp>
      <p:sp>
        <p:nvSpPr>
          <p:cNvPr id="54" name="Text 41"/>
          <p:cNvSpPr/>
          <p:nvPr/>
        </p:nvSpPr>
        <p:spPr>
          <a:xfrm>
            <a:off x="457200" y="5029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platform</a:t>
            </a:r>
            <a:endParaRPr lang="en-US" sz="1200" dirty="0"/>
          </a:p>
        </p:txBody>
      </p:sp>
      <p:sp>
        <p:nvSpPr>
          <p:cNvPr id="55" name="Shape 42"/>
          <p:cNvSpPr/>
          <p:nvPr/>
        </p:nvSpPr>
        <p:spPr>
          <a:xfrm>
            <a:off x="2331720" y="50292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56" name="Image 11" descr="/sessions/gifted-elegant-davinci/mnt/outputs/deck/assets/postgresq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5193792"/>
            <a:ext cx="566928" cy="56692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2377440" y="57972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58" name="Shape 44"/>
          <p:cNvSpPr/>
          <p:nvPr/>
        </p:nvSpPr>
        <p:spPr>
          <a:xfrm>
            <a:off x="4069080" y="50292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59" name="Image 12" descr="/sessions/gifted-elegant-davinci/mnt/outputs/deck/assets/mongod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9432" y="5193792"/>
            <a:ext cx="566928" cy="566928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4114800" y="57972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(Atlas vector)</a:t>
            </a:r>
            <a:endParaRPr lang="en-US" sz="950" dirty="0"/>
          </a:p>
        </p:txBody>
      </p:sp>
      <p:sp>
        <p:nvSpPr>
          <p:cNvPr id="61" name="Shape 46"/>
          <p:cNvSpPr/>
          <p:nvPr/>
        </p:nvSpPr>
        <p:spPr>
          <a:xfrm>
            <a:off x="5806440" y="5029200"/>
            <a:ext cx="162763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pic>
        <p:nvPicPr>
          <p:cNvPr id="62" name="Image 13" descr="/sessions/gifted-elegant-davinci/mnt/outputs/deck/assets/dock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2" y="5193792"/>
            <a:ext cx="566928" cy="56692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852160" y="5797296"/>
            <a:ext cx="1536192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64" name="Text 48"/>
          <p:cNvSpPr/>
          <p:nvPr/>
        </p:nvSpPr>
        <p:spPr>
          <a:xfrm>
            <a:off x="457200" y="60533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on Bedrock in Phase 1: Knowledge Bases, Agents, and Guardrails are constructed, not consumed as managed products (FedRAMP discipline).</a:t>
            </a:r>
            <a:endParaRPr lang="en-US" sz="1100" dirty="0"/>
          </a:p>
        </p:txBody>
      </p:sp>
      <p:sp>
        <p:nvSpPr>
          <p:cNvPr id="66" name="Text 4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7" name="Text 5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form | one click | nine of twelve sections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55648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" y="22860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Step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2670048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Basics: title, agency, NAICS, set-aside, contract type, ceiling, eval approach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446020"/>
            <a:ext cx="16459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0632" y="155448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1755648"/>
            <a:ext cx="457200" cy="45720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2860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"Draft AI Parts"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71800" y="2670048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the batch bar kicks off the LangGraph coordinator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73752" y="2446020"/>
            <a:ext cx="16459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38344" y="155448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39512" y="1755648"/>
            <a:ext cx="457200" cy="457200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19" name="Text 17"/>
          <p:cNvSpPr/>
          <p:nvPr/>
        </p:nvSpPr>
        <p:spPr>
          <a:xfrm>
            <a:off x="523951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39512" y="22860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of 12 auto-draft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39512" y="2670048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C,D,E,F,G,H,I,K,L,M populate - only A, B, J are human-entered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41464" y="2446020"/>
            <a:ext cx="16459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06056" y="155448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07224" y="1755648"/>
            <a:ext cx="457200" cy="457200"/>
          </a:xfrm>
          <a:prstGeom prst="ellipse">
            <a:avLst/>
          </a:prstGeom>
          <a:solidFill>
            <a:srgbClr val="238636"/>
          </a:solidFill>
          <a:ln/>
        </p:spPr>
      </p:sp>
      <p:sp>
        <p:nvSpPr>
          <p:cNvPr id="25" name="Text 23"/>
          <p:cNvSpPr/>
          <p:nvPr/>
        </p:nvSpPr>
        <p:spPr>
          <a:xfrm>
            <a:off x="750722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07224" y="22860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Editable review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507224" y="2670048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A-M editable with ai / ai-edited / human provenance badges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09176" y="2446020"/>
            <a:ext cx="164592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73768" y="155448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74936" y="1755648"/>
            <a:ext cx="457200" cy="457200"/>
          </a:xfrm>
          <a:prstGeom prst="ellipse">
            <a:avLst/>
          </a:prstGeom>
          <a:solidFill>
            <a:srgbClr val="B08800"/>
          </a:solidFill>
          <a:ln/>
        </p:spPr>
      </p:sp>
      <p:sp>
        <p:nvSpPr>
          <p:cNvPr id="31" name="Text 29"/>
          <p:cNvSpPr/>
          <p:nvPr/>
        </p:nvSpPr>
        <p:spPr>
          <a:xfrm>
            <a:off x="977493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74936" y="22860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hard-gate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774936" y="2670048"/>
            <a:ext cx="1700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-&gt; FAR 5.705 CO-approval modal; no issuance without recorded approval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703320"/>
            <a:ext cx="6766560" cy="2286000"/>
          </a:xfrm>
          <a:prstGeom prst="roundRect">
            <a:avLst>
              <a:gd name="adj" fmla="val 200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3886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BD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ON-SCREEN SCENARIO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1605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Managed Services BPA - Hybrid Infrastructure Support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7240" y="4782312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" y="4782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GSA-FAS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4782312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40" name="Text 38"/>
          <p:cNvSpPr/>
          <p:nvPr/>
        </p:nvSpPr>
        <p:spPr>
          <a:xfrm>
            <a:off x="2990088" y="4782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NAICS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541512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4782312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42" name="Text 40"/>
          <p:cNvSpPr/>
          <p:nvPr/>
        </p:nvSpPr>
        <p:spPr>
          <a:xfrm>
            <a:off x="5093208" y="4782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Set-aside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SDVOSB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7240" y="527608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44" name="Text 42"/>
          <p:cNvSpPr/>
          <p:nvPr/>
        </p:nvSpPr>
        <p:spPr>
          <a:xfrm>
            <a:off x="886968" y="52760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BPA | RFP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80360" y="527608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46" name="Text 44"/>
          <p:cNvSpPr/>
          <p:nvPr/>
        </p:nvSpPr>
        <p:spPr>
          <a:xfrm>
            <a:off x="2990088" y="52760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$12,000,000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83480" y="5276088"/>
            <a:ext cx="2011680" cy="420624"/>
          </a:xfrm>
          <a:prstGeom prst="roundRect">
            <a:avLst>
              <a:gd name="adj" fmla="val 13043"/>
            </a:avLst>
          </a:prstGeom>
          <a:solidFill>
            <a:srgbClr val="183257"/>
          </a:solidFill>
          <a:ln/>
        </p:spPr>
      </p:sp>
      <p:sp>
        <p:nvSpPr>
          <p:cNvPr id="48" name="Text 46"/>
          <p:cNvSpPr/>
          <p:nvPr/>
        </p:nvSpPr>
        <p:spPr>
          <a:xfrm>
            <a:off x="5093208" y="52760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Best-value tradeoff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98080" y="370332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 w="15875">
            <a:solidFill>
              <a:srgbClr val="C9D4E3"/>
            </a:solidFill>
            <a:prstDash val="solid"/>
          </a:ln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98080" y="3703320"/>
            <a:ext cx="82296" cy="2286000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51" name="Text 49"/>
          <p:cNvSpPr/>
          <p:nvPr/>
        </p:nvSpPr>
        <p:spPr>
          <a:xfrm>
            <a:off x="7726680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set-aside drives the draft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726680" y="4306824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K lists 52.219-27 (SDVOSB notice) + 52.219-14 (Limitations on Subcontracting) - proof the form drove clause selection.</a:t>
            </a:r>
            <a:endParaRPr lang="en-US" sz="105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LPTA and Section M flips to pass/fail acceptability; swap the set-aside and K changes.</a:t>
            </a:r>
            <a:endParaRPr lang="en-US" sz="105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AI_STUB_MODE - zero Bedrock spend, same response schema.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services | request path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2D33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48840"/>
            <a:ext cx="14173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214884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DD0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2148840"/>
            <a:ext cx="15544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:4200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6DB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11680"/>
            <a:ext cx="18288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:8080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RS | CORS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148132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2225">
            <a:solidFill>
              <a:srgbClr val="6DB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481328"/>
            <a:ext cx="233172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solicitation-service :8081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2.7 | Java 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432304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2225">
            <a:solidFill>
              <a:srgbClr val="6DB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432304"/>
            <a:ext cx="233172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evaluation-service :8082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2.7 | Java 11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383280"/>
            <a:ext cx="2331720" cy="932688"/>
          </a:xfrm>
          <a:prstGeom prst="roundRect">
            <a:avLst>
              <a:gd name="adj" fmla="val 5882"/>
            </a:avLst>
          </a:prstGeom>
          <a:solidFill>
            <a:srgbClr val="1F6FEB"/>
          </a:solidFill>
          <a:ln w="22225">
            <a:solidFill>
              <a:srgbClr val="0B3D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383280"/>
            <a:ext cx="233172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ai-orchestrator :8000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FastAPI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v1 + LangGraph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921240" y="155448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2D333B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1554480"/>
            <a:ext cx="17830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2432304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2D333B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2432304"/>
            <a:ext cx="1783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atlas-local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| audit | ckpts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21240" y="34290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B08800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3429000"/>
            <a:ext cx="1783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FedRAMP-safe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38528" y="2578608"/>
            <a:ext cx="36576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04488" y="2578608"/>
            <a:ext cx="36576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1874520"/>
            <a:ext cx="685800" cy="0"/>
          </a:xfrm>
          <a:prstGeom prst="line">
            <a:avLst/>
          </a:prstGeom>
          <a:noFill/>
          <a:ln w="22225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961888" y="16459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/solicitations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44768" y="2834640"/>
            <a:ext cx="685800" cy="0"/>
          </a:xfrm>
          <a:prstGeom prst="line">
            <a:avLst/>
          </a:prstGeom>
          <a:noFill/>
          <a:ln w="22225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961888" y="261518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/evaluations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44768" y="3840480"/>
            <a:ext cx="685800" cy="0"/>
          </a:xfrm>
          <a:prstGeom prst="line">
            <a:avLst/>
          </a:prstGeom>
          <a:noFill/>
          <a:ln w="22225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961888" y="362102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/ai/** Strip2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028432" y="2432304"/>
            <a:ext cx="0" cy="-109728"/>
          </a:xfrm>
          <a:prstGeom prst="line">
            <a:avLst/>
          </a:prstGeom>
          <a:noFill/>
          <a:ln w="19050">
            <a:solidFill>
              <a:srgbClr val="8B1A1A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89720" y="1901952"/>
            <a:ext cx="713232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89720" y="2743200"/>
            <a:ext cx="713232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89720" y="3657600"/>
            <a:ext cx="713232" cy="0"/>
          </a:xfrm>
          <a:prstGeom prst="line">
            <a:avLst/>
          </a:prstGeom>
          <a:noFill/>
          <a:ln w="22225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89720" y="3977640"/>
            <a:ext cx="713232" cy="0"/>
          </a:xfrm>
          <a:prstGeom prst="line">
            <a:avLst/>
          </a:prstGeom>
          <a:noFill/>
          <a:ln w="22225">
            <a:solidFill>
              <a:srgbClr val="1F6F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2920" y="4937760"/>
            <a:ext cx="11201400" cy="146304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047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sits in the stack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5340096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layered ON TOP - one new service (ai-orchestrator) + two new stores (Mongo vector corpus, Bedrock). Everything else is the inherited brownfield baseline (Spring Boot 2.7 / Java 11).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CORS preflight + StripPrefix-2 routing to the root-served orchestrator is the comms layer M1 wired up. Bedrock down -&gt; 503, surfaced cleanly.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evaluation-service calls solicitation-service directly - no circuit breaker (deliberate inherited debt, deferred to Phase 2).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| bounded | gated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4709160"/>
          </a:xfrm>
          <a:prstGeom prst="roundRect">
            <a:avLst>
              <a:gd name="adj" fmla="val 1149"/>
            </a:avLst>
          </a:prstGeom>
          <a:solidFill>
            <a:srgbClr val="F3F6FB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813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retrieval pipeline (M2)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3337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65376"/>
            <a:ext cx="73152" cy="566928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0195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| Admission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12140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header + query guardrails (regex + Nova-Micro judge)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1740" y="2436876"/>
            <a:ext cx="0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2596896"/>
            <a:ext cx="3337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596896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3347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| Hybrid retrieval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85292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v2 @512 + BM25 | RRF fusion | tenant pre-filter | top-K 20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491740" y="3168396"/>
            <a:ext cx="0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3328416"/>
            <a:ext cx="3337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28416"/>
            <a:ext cx="73152" cy="566928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36499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| Rerank + confidence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Rerank 1.0 -&gt; top-N 5 | gate on top score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491740" y="3899916"/>
            <a:ext cx="0" cy="14630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" y="4059936"/>
            <a:ext cx="3337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59936"/>
            <a:ext cx="73152" cy="566928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9651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| Grounding + audit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431596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(chunk_id + far_clause) | append-only audit_log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822960" y="480974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gate - three bands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5084064"/>
            <a:ext cx="1021080" cy="603504"/>
          </a:xfrm>
          <a:prstGeom prst="roundRect">
            <a:avLst>
              <a:gd name="adj" fmla="val 7576"/>
            </a:avLst>
          </a:prstGeom>
          <a:solidFill>
            <a:srgbClr val="8B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084064"/>
            <a:ext cx="10210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</a:t>
            </a:r>
            <a:endParaRPr lang="en-US" sz="8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+ escalate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981200" y="5084064"/>
            <a:ext cx="1021080" cy="603504"/>
          </a:xfrm>
          <a:prstGeom prst="roundRect">
            <a:avLst>
              <a:gd name="adj" fmla="val 7576"/>
            </a:avLst>
          </a:prstGeom>
          <a:solidFill>
            <a:srgbClr val="B08800"/>
          </a:solidFill>
          <a:ln/>
        </p:spPr>
      </p:sp>
      <p:sp>
        <p:nvSpPr>
          <p:cNvPr id="30" name="Text 28"/>
          <p:cNvSpPr/>
          <p:nvPr/>
        </p:nvSpPr>
        <p:spPr>
          <a:xfrm>
            <a:off x="1981200" y="5084064"/>
            <a:ext cx="10210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CO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139440" y="5084064"/>
            <a:ext cx="1021080" cy="603504"/>
          </a:xfrm>
          <a:prstGeom prst="roundRect">
            <a:avLst>
              <a:gd name="adj" fmla="val 7576"/>
            </a:avLst>
          </a:prstGeom>
          <a:solidFill>
            <a:srgbClr val="238636"/>
          </a:solidFill>
          <a:ln/>
        </p:spPr>
      </p:sp>
      <p:sp>
        <p:nvSpPr>
          <p:cNvPr id="32" name="Text 30"/>
          <p:cNvSpPr/>
          <p:nvPr/>
        </p:nvSpPr>
        <p:spPr>
          <a:xfrm>
            <a:off x="3139440" y="5084064"/>
            <a:ext cx="10210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+ cite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22960" y="57241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rerank 0.30 / 0.50   |   M1 agent gate 0.40 / 0.55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709160" y="1417320"/>
            <a:ext cx="3611880" cy="2788920"/>
          </a:xfrm>
          <a:prstGeom prst="roundRect">
            <a:avLst>
              <a:gd name="adj" fmla="val 1639"/>
            </a:avLst>
          </a:prstGeom>
          <a:solidFill>
            <a:srgbClr val="F3F6FB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4813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coordinator - LangGraph DAG (M1)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12180" y="182880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0243E"/>
          </a:solidFill>
          <a:ln/>
        </p:spPr>
      </p:sp>
      <p:sp>
        <p:nvSpPr>
          <p:cNvPr id="37" name="Text 35"/>
          <p:cNvSpPr/>
          <p:nvPr/>
        </p:nvSpPr>
        <p:spPr>
          <a:xfrm>
            <a:off x="601218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74336" y="2395728"/>
            <a:ext cx="941832" cy="475488"/>
          </a:xfrm>
          <a:prstGeom prst="roundRect">
            <a:avLst>
              <a:gd name="adj" fmla="val 9615"/>
            </a:avLst>
          </a:prstGeom>
          <a:solidFill>
            <a:srgbClr val="1F6FEB"/>
          </a:solidFill>
          <a:ln/>
        </p:spPr>
      </p:sp>
      <p:sp>
        <p:nvSpPr>
          <p:cNvPr id="39" name="Text 37"/>
          <p:cNvSpPr/>
          <p:nvPr/>
        </p:nvSpPr>
        <p:spPr>
          <a:xfrm>
            <a:off x="4974336" y="2395728"/>
            <a:ext cx="94183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| C,H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6025896" y="2395728"/>
            <a:ext cx="941832" cy="475488"/>
          </a:xfrm>
          <a:prstGeom prst="roundRect">
            <a:avLst>
              <a:gd name="adj" fmla="val 9615"/>
            </a:avLst>
          </a:prstGeom>
          <a:solidFill>
            <a:srgbClr val="1F6FEB"/>
          </a:solidFill>
          <a:ln/>
        </p:spPr>
      </p:sp>
      <p:sp>
        <p:nvSpPr>
          <p:cNvPr id="41" name="Text 39"/>
          <p:cNvSpPr/>
          <p:nvPr/>
        </p:nvSpPr>
        <p:spPr>
          <a:xfrm>
            <a:off x="6025896" y="2395728"/>
            <a:ext cx="94183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| L,M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7077456" y="2395728"/>
            <a:ext cx="941832" cy="475488"/>
          </a:xfrm>
          <a:prstGeom prst="roundRect">
            <a:avLst>
              <a:gd name="adj" fmla="val 9615"/>
            </a:avLst>
          </a:prstGeom>
          <a:solidFill>
            <a:srgbClr val="6F42C1"/>
          </a:solidFill>
          <a:ln/>
        </p:spPr>
      </p:sp>
      <p:sp>
        <p:nvSpPr>
          <p:cNvPr id="43" name="Text 41"/>
          <p:cNvSpPr/>
          <p:nvPr/>
        </p:nvSpPr>
        <p:spPr>
          <a:xfrm>
            <a:off x="7077456" y="2395728"/>
            <a:ext cx="94183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D-G,K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| 1 call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4974336" y="2962656"/>
            <a:ext cx="941832" cy="475488"/>
          </a:xfrm>
          <a:prstGeom prst="roundRect">
            <a:avLst>
              <a:gd name="adj" fmla="val 9615"/>
            </a:avLst>
          </a:prstGeom>
          <a:solidFill>
            <a:srgbClr val="238636"/>
          </a:solidFill>
          <a:ln/>
        </p:spPr>
      </p:sp>
      <p:sp>
        <p:nvSpPr>
          <p:cNvPr id="45" name="Text 43"/>
          <p:cNvSpPr/>
          <p:nvPr/>
        </p:nvSpPr>
        <p:spPr>
          <a:xfrm>
            <a:off x="4974336" y="2962656"/>
            <a:ext cx="94183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| I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matrix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6025896" y="2962656"/>
            <a:ext cx="941832" cy="475488"/>
          </a:xfrm>
          <a:prstGeom prst="roundRect">
            <a:avLst>
              <a:gd name="adj" fmla="val 9615"/>
            </a:avLst>
          </a:prstGeom>
          <a:solidFill>
            <a:srgbClr val="238636"/>
          </a:solidFill>
          <a:ln/>
        </p:spPr>
      </p:sp>
      <p:sp>
        <p:nvSpPr>
          <p:cNvPr id="47" name="Text 45"/>
          <p:cNvSpPr/>
          <p:nvPr/>
        </p:nvSpPr>
        <p:spPr>
          <a:xfrm>
            <a:off x="6025896" y="2962656"/>
            <a:ext cx="94183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| J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6515100" y="2194560"/>
            <a:ext cx="0" cy="16459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937760" y="354787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(MAX_BATCH_FAN_OUT = 2 Sonnet)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4937760" y="3767328"/>
            <a:ext cx="15316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767328"/>
            <a:ext cx="15316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60820" y="3767328"/>
            <a:ext cx="1531620" cy="347472"/>
          </a:xfrm>
          <a:prstGeom prst="roundRect">
            <a:avLst>
              <a:gd name="adj" fmla="val 13158"/>
            </a:avLst>
          </a:prstGeom>
          <a:solidFill>
            <a:srgbClr val="B08800"/>
          </a:solidFill>
          <a:ln/>
        </p:spPr>
      </p:sp>
      <p:sp>
        <p:nvSpPr>
          <p:cNvPr id="53" name="Text 51"/>
          <p:cNvSpPr/>
          <p:nvPr/>
        </p:nvSpPr>
        <p:spPr>
          <a:xfrm>
            <a:off x="6560820" y="3767328"/>
            <a:ext cx="15316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| rl 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73952" y="3941064"/>
            <a:ext cx="73152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709160" y="4370832"/>
            <a:ext cx="3611880" cy="1755648"/>
          </a:xfrm>
          <a:prstGeom prst="roundRect">
            <a:avLst>
              <a:gd name="adj" fmla="val 2604"/>
            </a:avLst>
          </a:prstGeom>
          <a:solidFill>
            <a:srgbClr val="F3F6FB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4434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HITL durable checkpoint (sec 6)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910328" y="4736592"/>
            <a:ext cx="3227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score in HITL band -&gt; interrupt + persist to MongoDBSaver (agent_checkpoints, TTL none).</a:t>
            </a:r>
            <a:endParaRPr lang="en-US" sz="93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returns hours/days later -&gt; /resume approve | edit | reject, replayed from checkpoint.</a:t>
            </a:r>
            <a:endParaRPr lang="en-US" sz="93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process restart; orphans swept after 30 days. Authority over accuracy.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8549640" y="1417320"/>
            <a:ext cx="3154680" cy="2331720"/>
          </a:xfrm>
          <a:prstGeom prst="roundRect">
            <a:avLst>
              <a:gd name="adj" fmla="val 1961"/>
            </a:avLst>
          </a:prstGeom>
          <a:solidFill>
            <a:srgbClr val="F3F6FB"/>
          </a:solidFill>
          <a:ln w="15875">
            <a:solidFill>
              <a:srgbClr val="C9D4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2520" y="148132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tiering (sec 8)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732520" y="1810512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32520" y="1810512"/>
            <a:ext cx="73152" cy="42062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62" name="Text 60"/>
          <p:cNvSpPr/>
          <p:nvPr/>
        </p:nvSpPr>
        <p:spPr>
          <a:xfrm>
            <a:off x="8878824" y="1810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Sonnet 4.5  </a:t>
            </a:r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sections C,H,L,M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8732520" y="2276856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32520" y="2276856"/>
            <a:ext cx="73152" cy="420624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65" name="Text 63"/>
          <p:cNvSpPr/>
          <p:nvPr/>
        </p:nvSpPr>
        <p:spPr>
          <a:xfrm>
            <a:off x="8878824" y="22768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Haiku 4.5  </a:t>
            </a:r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D-G,K | single call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8732520" y="2743200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32520" y="2743200"/>
            <a:ext cx="73152" cy="420624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68" name="Text 66"/>
          <p:cNvSpPr/>
          <p:nvPr/>
        </p:nvSpPr>
        <p:spPr>
          <a:xfrm>
            <a:off x="8878824" y="27432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Nova Lite/Micro  </a:t>
            </a:r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| critic | topic judge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8732520" y="3209544"/>
            <a:ext cx="2788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9D4E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32520" y="3209544"/>
            <a:ext cx="73152" cy="420624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71" name="Text 69"/>
          <p:cNvSpPr/>
          <p:nvPr/>
        </p:nvSpPr>
        <p:spPr>
          <a:xfrm>
            <a:off x="8878824" y="32095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12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v2 | Rerank 1.0  </a:t>
            </a:r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@512 | relevance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8549640" y="3913632"/>
            <a:ext cx="3154680" cy="2212848"/>
          </a:xfrm>
          <a:prstGeom prst="roundRect">
            <a:avLst>
              <a:gd name="adj" fmla="val 2066"/>
            </a:avLst>
          </a:prstGeom>
          <a:solidFill>
            <a:srgbClr val="FBEDED"/>
          </a:solidFill>
          <a:ln w="15875">
            <a:solidFill>
              <a:srgbClr val="E3B9B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32520" y="3977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Cost-runaway guard (sec 7a)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8750808" y="4279392"/>
            <a:ext cx="27706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invoke carries an explicit recursion_limit: Sonnet drafter 12, critic 3.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max_tokens caps (C 6000 ... D 300); low max_retries (boto3 retry-storm guard).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boilerplate = single structured call: no agent, no tools, no loop surface.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regression test asserts a runaway agent dies at the cap - the guard for the 2.8M-token incident.</a:t>
            </a:r>
            <a:endParaRPr lang="en-US" sz="860" dirty="0"/>
          </a:p>
        </p:txBody>
      </p:sp>
      <p:sp>
        <p:nvSpPr>
          <p:cNvPr id="76" name="Text 7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46304" cy="146304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PLANS &amp; 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6400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Forward-looking - not yet done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82296" cy="21488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7739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773936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M2 - Grounded retrieval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FAR/DFARS-cited answers; withhold-and-escalate on low confidence; cross-tenant retrieval impossible; an eval gate that blocks grounding regressions.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407408" y="155448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1554480"/>
            <a:ext cx="82296" cy="2148840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7739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08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73936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2121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M3 - Agentic source selection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-&gt; consensus -&gt; SSA -&gt; award on synthetic data; hard gates on every reserved/irreversible step (FAR 15.308, 5.705, 15.206); paused runs survive multi-day delays.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311896" y="155448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554480"/>
            <a:ext cx="82296" cy="214884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7928" y="17739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6F42C1"/>
          </a:solidFill>
          <a:ln/>
        </p:spPr>
      </p:sp>
      <p:sp>
        <p:nvSpPr>
          <p:cNvPr id="20" name="Text 18"/>
          <p:cNvSpPr/>
          <p:nvPr/>
        </p:nvSpPr>
        <p:spPr>
          <a:xfrm>
            <a:off x="8567928" y="1773936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67928" y="2121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C-first sequencing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67928" y="2578608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live-path refinement: draft Section C first and feed it as context into L/M and boilerplate. Deferred - touches the HITL interrupt/resume handshake; critic flags misalignment warn-only meanwhile.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02920" y="3959352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959352"/>
            <a:ext cx="82296" cy="21488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" y="4178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178808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952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2 - Modernization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8952" y="4983480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/ Java 21 across the service tier; AI-security hardening of inherited debt; AIOps + observability. Explicitly out of scope for Phase 1.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407408" y="3959352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07408" y="3959352"/>
            <a:ext cx="82296" cy="214884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4178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4178808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Eval-gate ratcheting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663440" y="4983480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automated evaluation thresholds over time so quality is proven in CI and protected from regression - eval as the gate.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311896" y="3959352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B1A2E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959352"/>
            <a:ext cx="82296" cy="2148840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37" name="Shape 35"/>
          <p:cNvSpPr/>
          <p:nvPr/>
        </p:nvSpPr>
        <p:spPr>
          <a:xfrm>
            <a:off x="8567928" y="41788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D333B"/>
          </a:solidFill>
          <a:ln/>
        </p:spPr>
      </p:sp>
      <p:sp>
        <p:nvSpPr>
          <p:cNvPr id="38" name="Text 36"/>
          <p:cNvSpPr/>
          <p:nvPr/>
        </p:nvSpPr>
        <p:spPr>
          <a:xfrm>
            <a:off x="8567928" y="4178808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67928" y="4526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traversal at speed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567928" y="4983480"/>
            <a:ext cx="313639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CO's multi-hop questions ('this vendor's contracts with red CPARs') at interactive latency - graph vs. relational still an open planning question.</a:t>
            </a:r>
            <a:endParaRPr lang="en-US" sz="1030" dirty="0"/>
          </a:p>
        </p:txBody>
      </p:sp>
      <p:sp>
        <p:nvSpPr>
          <p:cNvPr id="42" name="Text 3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331720"/>
            <a:ext cx="54864" cy="1828800"/>
          </a:xfrm>
          <a:prstGeom prst="rect">
            <a:avLst/>
          </a:prstGeom>
          <a:solidFill>
            <a:srgbClr val="B0880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078992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8992" y="3886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acquire-gov | Phase 1 - AI adoption: grounded, gated, auditable.   Authority over accuracy | grounded or withheld | eval as the gate.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8992" y="4709160"/>
            <a:ext cx="1256386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4709160"/>
            <a:ext cx="125638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drafting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9970" y="4709160"/>
            <a:ext cx="2115922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/>
        </p:spPr>
      </p:sp>
      <p:sp>
        <p:nvSpPr>
          <p:cNvPr id="9" name="Text 7"/>
          <p:cNvSpPr/>
          <p:nvPr/>
        </p:nvSpPr>
        <p:spPr>
          <a:xfrm>
            <a:off x="2499970" y="4709160"/>
            <a:ext cx="211592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grounded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0483" y="4709160"/>
            <a:ext cx="2631643" cy="384048"/>
          </a:xfrm>
          <a:prstGeom prst="roundRect">
            <a:avLst>
              <a:gd name="adj" fmla="val 50000"/>
            </a:avLst>
          </a:prstGeom>
          <a:solidFill>
            <a:srgbClr val="183257"/>
          </a:solidFill>
          <a:ln/>
        </p:spPr>
      </p:sp>
      <p:sp>
        <p:nvSpPr>
          <p:cNvPr id="11" name="Text 9"/>
          <p:cNvSpPr/>
          <p:nvPr/>
        </p:nvSpPr>
        <p:spPr>
          <a:xfrm>
            <a:off x="4780483" y="4709160"/>
            <a:ext cx="2631643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B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agentic source-selection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acquire-gov - Phase 1: AI Adoption</dc:title>
  <dc:subject>PptxGenJS Presentation</dc:subject>
  <dc:creator>acquire-gov FDE</dc:creator>
  <cp:lastModifiedBy>acquire-gov FDE</cp:lastModifiedBy>
  <cp:revision>1</cp:revision>
  <dcterms:created xsi:type="dcterms:W3CDTF">2026-06-15T13:05:20Z</dcterms:created>
  <dcterms:modified xsi:type="dcterms:W3CDTF">2026-06-15T13:05:20Z</dcterms:modified>
</cp:coreProperties>
</file>